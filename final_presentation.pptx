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57" r:id="rId3"/>
    <p:sldId id="262" r:id="rId4"/>
    <p:sldId id="263" r:id="rId5"/>
    <p:sldId id="264" r:id="rId6"/>
    <p:sldId id="268" r:id="rId7"/>
    <p:sldId id="267" r:id="rId8"/>
    <p:sldId id="269" r:id="rId9"/>
    <p:sldId id="276" r:id="rId10"/>
    <p:sldId id="270" r:id="rId11"/>
    <p:sldId id="271" r:id="rId12"/>
    <p:sldId id="272" r:id="rId13"/>
    <p:sldId id="273" r:id="rId14"/>
    <p:sldId id="274" r:id="rId15"/>
    <p:sldId id="275" r:id="rId16"/>
    <p:sldId id="26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74" autoAdjust="0"/>
    <p:restoredTop sz="94660"/>
  </p:normalViewPr>
  <p:slideViewPr>
    <p:cSldViewPr snapToGrid="0">
      <p:cViewPr>
        <p:scale>
          <a:sx n="42" d="100"/>
          <a:sy n="42" d="100"/>
        </p:scale>
        <p:origin x="1736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BF677-9A64-B820-E648-082BB57155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4A25FE-E235-05CA-04E5-9950429244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3B8E8-7D6D-B259-B290-594561138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50C0-A7C0-40CD-9513-FCE0264F1D32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D2DB1-194E-0855-2B5D-D05FD8909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F6059-32FB-9D2B-116C-46C172007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D9F6-8956-4340-9FD8-02BEB1E49C0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99622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6B107-94AB-CADB-0033-16D08D68C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D822B-F2A4-780A-E929-221833097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EF1E0-AD7F-37C6-9D01-614D3466E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50C0-A7C0-40CD-9513-FCE0264F1D32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431CB-4E24-0219-EAC6-871D7B99D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CC3ED-BFF3-A2FD-468E-D5CB04867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D9F6-8956-4340-9FD8-02BEB1E49C0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3054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529F5-7ACD-8DFC-E9F6-3BA7DDCD2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45C42-F980-12F1-AE1F-7606DA810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395AF-A37C-1E36-C28C-B7D665B85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50C0-A7C0-40CD-9513-FCE0264F1D32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396C8-5F3C-5FC9-A60A-7F56D3E98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65155-8870-E1C1-D851-A4519B433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D9F6-8956-4340-9FD8-02BEB1E49C0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55802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CF8A8-D710-8C21-3DC3-8389986A6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92E7C-1687-32CC-9397-A6DCC00DCD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4309F5-628C-3FDB-7B4A-7429B29FD2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08955-E287-D1CA-9D76-739929CE3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50C0-A7C0-40CD-9513-FCE0264F1D32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99ABD-0900-94BF-1D6D-DB0E874D7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D9D8FD-CD59-ED07-6219-4C513F6D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D9F6-8956-4340-9FD8-02BEB1E49C0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68801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FDF4B-2023-5EE1-2CD8-6550B3A12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37792-663D-061B-AED0-429F71295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EE379D-B69C-916C-92BF-31710E6C87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DC680A-A6A5-DFD2-95A2-6972F623A9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7F462C-8E82-CEBD-B012-4CE0E3E736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FC57E1-B3A5-C530-D8A1-7A19D78DD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50C0-A7C0-40CD-9513-FCE0264F1D32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772CD8-B378-9DE2-D474-1E04ED7C0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988194-715E-3F61-6B45-A7A04417D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D9F6-8956-4340-9FD8-02BEB1E49C0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19915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7369F-8310-A950-F7F0-39DF3AEC0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31D04E-2C9B-C1AE-9FDC-AF44D84D9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50C0-A7C0-40CD-9513-FCE0264F1D32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A5C3A3-9393-2A80-AD1E-965D9CE96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355E09-B09D-1DC2-4336-601A974ED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D9F6-8956-4340-9FD8-02BEB1E49C0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44318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4A64FC-8C55-DCA4-EF94-AEF453114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50C0-A7C0-40CD-9513-FCE0264F1D32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79FC5F-41DB-6060-E405-A5550AE78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2909B-DC8B-7CC7-C130-57D87AC9A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D9F6-8956-4340-9FD8-02BEB1E49C0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596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C33DE-24C4-DA4B-C3D4-29F08E1F8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AB9A7-31DC-D8B9-4734-04B9F6426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57EFAE-9AD3-FC3F-E2B6-DB15A7065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57719A-ACC8-EC09-51CB-79D93977A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50C0-A7C0-40CD-9513-FCE0264F1D32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E26C3-3356-D623-801E-8F45DD016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4C61B7-43D0-BD53-F4F6-432E6C18F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D9F6-8956-4340-9FD8-02BEB1E49C0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98196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D2ED5-1028-BAA4-1471-009513EC8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7D571B-4732-732B-FBC5-DBF56B1AFC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C3CB8A-B34E-39FC-6C75-C42587D83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151EC5-9361-529F-9D53-77D0A2BFE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50C0-A7C0-40CD-9513-FCE0264F1D32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DCE649-B7CD-3AED-35D1-A22859D4C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14EE07-75AA-22C8-5678-C28925978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D9F6-8956-4340-9FD8-02BEB1E49C0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94432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46F28-6281-95B2-3BA5-257F39035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AF3C57-14F1-6640-2408-540C15E6B5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40C17-816D-3B28-4DAA-A76EDD417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50C0-A7C0-40CD-9513-FCE0264F1D32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213F0-BCB8-65A5-85F1-71786D2C5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F6819-93AD-F12F-7F28-94894DF7A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D9F6-8956-4340-9FD8-02BEB1E49C0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9335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FA0B6B-8FE2-980D-EAD7-D063D84635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7A305B-A9FB-6703-D337-ACA136F7C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6F556-29D1-4DFA-6E67-B61589416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50C0-A7C0-40CD-9513-FCE0264F1D32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90B12-D6B1-3E85-B1D1-38FD7AF3A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1FA6B-1708-5B3A-5C56-F3D74C657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D9F6-8956-4340-9FD8-02BEB1E49C0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86929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0EAC5E-AE8B-3534-46C8-99AEECEBB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89B4A2-EBB3-3666-2CCC-8F2FF39E0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27AE9-B48A-BF32-BAA0-9B7D728B67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B50C0-A7C0-40CD-9513-FCE0264F1D32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9BD34-8A80-294A-DBFB-2F8011FAAB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0CE0E-5B32-0BFF-14F5-72B0F0D481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52D9F6-8956-4340-9FD8-02BEB1E49C0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34390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C39AE25-5D59-B19B-9B25-FA51A174AD9F}"/>
              </a:ext>
            </a:extLst>
          </p:cNvPr>
          <p:cNvSpPr/>
          <p:nvPr/>
        </p:nvSpPr>
        <p:spPr>
          <a:xfrm>
            <a:off x="1280160" y="3733800"/>
            <a:ext cx="9631680" cy="102108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60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EB568F-B064-77B4-4869-B0BBE57163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1214438"/>
            <a:ext cx="9631680" cy="2387600"/>
          </a:xfrm>
        </p:spPr>
        <p:txBody>
          <a:bodyPr>
            <a:normAutofit fontScale="90000"/>
          </a:bodyPr>
          <a:lstStyle/>
          <a:p>
            <a:r>
              <a:rPr lang="en-IE"/>
              <a:t>Rain, timing or home advantage? </a:t>
            </a:r>
            <a:br>
              <a:rPr lang="en-IE"/>
            </a:br>
            <a:r>
              <a:rPr lang="en-IE"/>
              <a:t>What influences goals and victories in the 1. Bundsliga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5D0AE0-26CF-982F-85FD-29C519C733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E" b="0" i="0">
              <a:solidFill>
                <a:schemeClr val="bg1"/>
              </a:solidFill>
              <a:effectLst/>
            </a:endParaRPr>
          </a:p>
          <a:p>
            <a:r>
              <a:rPr lang="en-IE" b="0" i="0">
                <a:solidFill>
                  <a:schemeClr val="bg1"/>
                </a:solidFill>
                <a:effectLst/>
              </a:rPr>
              <a:t>Group 15: Hauke Busch, Jakob Erichsen, Alexander Liebler, Robert Ousch</a:t>
            </a:r>
            <a:endParaRPr lang="en-IE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183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9D466A7-0831-55A0-EBFE-C439D6C5536B}"/>
              </a:ext>
            </a:extLst>
          </p:cNvPr>
          <p:cNvSpPr/>
          <p:nvPr/>
        </p:nvSpPr>
        <p:spPr>
          <a:xfrm>
            <a:off x="-564873" y="-365125"/>
            <a:ext cx="13321746" cy="1690688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6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9C483B-9B57-C48F-6DBA-18AC90462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de-DE" sz="4000">
                <a:solidFill>
                  <a:schemeClr val="bg1"/>
                </a:solidFill>
              </a:rPr>
              <a:t>Week</a:t>
            </a:r>
            <a:r>
              <a:rPr lang="de-DE">
                <a:solidFill>
                  <a:schemeClr val="bg1"/>
                </a:solidFill>
              </a:rPr>
              <a:t> 1: Topic brainstorming</a:t>
            </a:r>
            <a:endParaRPr lang="en-IE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1DF6B-5A57-1A27-4611-5E796B3A9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/>
              <a:t>Three different topics</a:t>
            </a:r>
          </a:p>
          <a:p>
            <a:pPr lvl="1"/>
            <a:r>
              <a:rPr lang="en-IE" sz="2800"/>
              <a:t>Public transport</a:t>
            </a:r>
          </a:p>
          <a:p>
            <a:pPr lvl="1"/>
            <a:r>
              <a:rPr lang="en-IE" sz="2800"/>
              <a:t>Crime rates</a:t>
            </a:r>
          </a:p>
          <a:p>
            <a:pPr lvl="1"/>
            <a:r>
              <a:rPr lang="en-IE" sz="2800"/>
              <a:t>Football in Germany</a:t>
            </a:r>
          </a:p>
          <a:p>
            <a:r>
              <a:rPr lang="en-IE"/>
              <a:t>Issue: Finding optimal APIs to answer all of our questions</a:t>
            </a:r>
          </a:p>
        </p:txBody>
      </p:sp>
    </p:spTree>
    <p:extLst>
      <p:ext uri="{BB962C8B-B14F-4D97-AF65-F5344CB8AC3E}">
        <p14:creationId xmlns:p14="http://schemas.microsoft.com/office/powerpoint/2010/main" val="851654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5C6CD-7A6F-5148-99FC-615A3F09A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0946ED0-E12B-AE07-6D9B-ACD1AA012E40}"/>
              </a:ext>
            </a:extLst>
          </p:cNvPr>
          <p:cNvSpPr/>
          <p:nvPr/>
        </p:nvSpPr>
        <p:spPr>
          <a:xfrm>
            <a:off x="-564873" y="-365125"/>
            <a:ext cx="13321746" cy="1690688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6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FD56B6-C05E-7812-23B0-E6237F9FE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chemeClr val="bg1"/>
                </a:solidFill>
              </a:rPr>
              <a:t>Week 2: Answering the research questions</a:t>
            </a:r>
            <a:endParaRPr lang="en-IE" sz="40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2BAC3-6F88-C088-2F34-4103903AF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/>
              <a:t>Used the data sources to answer three of our research questions</a:t>
            </a:r>
          </a:p>
          <a:p>
            <a:r>
              <a:rPr lang="en-IE"/>
              <a:t>Issue: Football API does not provide as much historic data</a:t>
            </a:r>
          </a:p>
          <a:p>
            <a:r>
              <a:rPr lang="en-IE"/>
              <a:t>Not enough to answer following questions: </a:t>
            </a:r>
          </a:p>
          <a:p>
            <a:pPr lvl="1"/>
            <a:r>
              <a:rPr lang="en-IE" sz="2800"/>
              <a:t>4. How many goals are scored on average before a player is transferred to another team? </a:t>
            </a:r>
          </a:p>
          <a:p>
            <a:pPr lvl="1"/>
            <a:r>
              <a:rPr lang="en-IE" sz="2800"/>
              <a:t>5. What is the correlation between the win rate of a coach`s team and the coach`s time at the team? </a:t>
            </a:r>
          </a:p>
          <a:p>
            <a:pPr lvl="1"/>
            <a:r>
              <a:rPr lang="en-IE" sz="2800">
                <a:sym typeface="Wingdings" panose="05000000000000000000" pitchFamily="2" charset="2"/>
              </a:rPr>
              <a:t> W</a:t>
            </a:r>
            <a:r>
              <a:rPr lang="en-IE" sz="2800"/>
              <a:t>ere replaced</a:t>
            </a:r>
          </a:p>
        </p:txBody>
      </p:sp>
    </p:spTree>
    <p:extLst>
      <p:ext uri="{BB962C8B-B14F-4D97-AF65-F5344CB8AC3E}">
        <p14:creationId xmlns:p14="http://schemas.microsoft.com/office/powerpoint/2010/main" val="4293966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FB9E-3B65-1C1D-2DDB-98365D048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2D4B35B-CE68-313C-8E96-3E47A63B49DA}"/>
              </a:ext>
            </a:extLst>
          </p:cNvPr>
          <p:cNvSpPr/>
          <p:nvPr/>
        </p:nvSpPr>
        <p:spPr>
          <a:xfrm>
            <a:off x="-564873" y="-365125"/>
            <a:ext cx="13321746" cy="1690688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6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41D45-1774-381A-BE38-99A8973AA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chemeClr val="bg1"/>
                </a:solidFill>
              </a:rPr>
              <a:t>Week 3: Basic website</a:t>
            </a:r>
            <a:endParaRPr lang="en-IE" sz="40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04FB9-05E7-68DB-66EA-E5C77E105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/>
              <a:t>Used the data sources to answer the remaining five research questions, including the two new questions</a:t>
            </a:r>
          </a:p>
          <a:p>
            <a:r>
              <a:rPr lang="en-IE"/>
              <a:t>Built a basic website, some static visualizations</a:t>
            </a:r>
          </a:p>
          <a:p>
            <a:r>
              <a:rPr lang="en-IE"/>
              <a:t>Issues:</a:t>
            </a:r>
          </a:p>
          <a:p>
            <a:pPr lvl="1"/>
            <a:r>
              <a:rPr lang="en-IE" sz="2800"/>
              <a:t>Problems with graphs using multiple interactive elements</a:t>
            </a:r>
          </a:p>
          <a:p>
            <a:pPr lvl="1"/>
            <a:r>
              <a:rPr lang="en-IE" sz="2800"/>
              <a:t>Gunicorn start command changed</a:t>
            </a:r>
          </a:p>
          <a:p>
            <a:pPr lvl="1"/>
            <a:r>
              <a:rPr lang="en-IE" sz="2800"/>
              <a:t>Wait times per deploy were quite long and made testing difficult</a:t>
            </a:r>
          </a:p>
        </p:txBody>
      </p:sp>
    </p:spTree>
    <p:extLst>
      <p:ext uri="{BB962C8B-B14F-4D97-AF65-F5344CB8AC3E}">
        <p14:creationId xmlns:p14="http://schemas.microsoft.com/office/powerpoint/2010/main" val="3905276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212C6-9F9F-FE86-2994-B28B5495B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2695F8B-F9AF-0227-9915-7A27C7E13978}"/>
              </a:ext>
            </a:extLst>
          </p:cNvPr>
          <p:cNvSpPr/>
          <p:nvPr/>
        </p:nvSpPr>
        <p:spPr>
          <a:xfrm>
            <a:off x="-564873" y="-365125"/>
            <a:ext cx="13321746" cy="1690688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6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C0D655-B5C2-CA7F-0D90-5DCDB3606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chemeClr val="bg1"/>
                </a:solidFill>
              </a:rPr>
              <a:t>Week 4: Final website and poster</a:t>
            </a:r>
            <a:endParaRPr lang="en-IE" sz="40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586FE-0882-A93B-D08F-92261C2A5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/>
              <a:t>At least one dynamic visualization per research question</a:t>
            </a:r>
          </a:p>
          <a:p>
            <a:r>
              <a:rPr lang="en-IE"/>
              <a:t>Eight different graph types</a:t>
            </a:r>
          </a:p>
          <a:p>
            <a:r>
              <a:rPr lang="en-IE"/>
              <a:t>Six of our research questions on our scientific poster</a:t>
            </a:r>
          </a:p>
        </p:txBody>
      </p:sp>
    </p:spTree>
    <p:extLst>
      <p:ext uri="{BB962C8B-B14F-4D97-AF65-F5344CB8AC3E}">
        <p14:creationId xmlns:p14="http://schemas.microsoft.com/office/powerpoint/2010/main" val="2565280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805DD-33A3-48FD-1323-30D736849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3B17B58-D5A2-58CE-E309-F38E6D3DDE23}"/>
              </a:ext>
            </a:extLst>
          </p:cNvPr>
          <p:cNvSpPr/>
          <p:nvPr/>
        </p:nvSpPr>
        <p:spPr>
          <a:xfrm>
            <a:off x="-564873" y="-365125"/>
            <a:ext cx="13321746" cy="1690688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6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103AE3-AF25-D056-5B41-3C1F143A7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chemeClr val="bg1"/>
                </a:solidFill>
              </a:rPr>
              <a:t>Data sources</a:t>
            </a:r>
            <a:endParaRPr lang="en-IE" sz="40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13AD6-09F7-1EC5-8A0E-5A8004550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/>
              <a:t>api.openligadb.de</a:t>
            </a:r>
          </a:p>
          <a:p>
            <a:pPr lvl="1"/>
            <a:r>
              <a:rPr lang="en-IE" sz="2800"/>
              <a:t>Main source</a:t>
            </a:r>
          </a:p>
          <a:p>
            <a:pPr lvl="1"/>
            <a:r>
              <a:rPr lang="en-IE" sz="2800"/>
              <a:t>Historic data of matches, teams and goals</a:t>
            </a:r>
          </a:p>
          <a:p>
            <a:r>
              <a:rPr lang="en-IE"/>
              <a:t>v3.football.api-sports.io – venue capacity</a:t>
            </a:r>
          </a:p>
          <a:p>
            <a:r>
              <a:rPr lang="en-IE"/>
              <a:t>geocoding-api.open-meteo.com – rainfall and precipitation</a:t>
            </a:r>
          </a:p>
          <a:p>
            <a:r>
              <a:rPr lang="en-IE"/>
              <a:t>https://hi-artemii.medium.com/vertical-lollipop-chart-in-plotly-python-minimal-code-example-1e1bca0b1261 – Lollipop plot</a:t>
            </a:r>
          </a:p>
        </p:txBody>
      </p:sp>
    </p:spTree>
    <p:extLst>
      <p:ext uri="{BB962C8B-B14F-4D97-AF65-F5344CB8AC3E}">
        <p14:creationId xmlns:p14="http://schemas.microsoft.com/office/powerpoint/2010/main" val="465378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D42DE-09C3-BD21-31E0-61F5DEC53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4B1F7-3E77-F91C-2FE1-2157849B5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/>
          <a:lstStyle/>
          <a:p>
            <a:pPr algn="ctr"/>
            <a:r>
              <a:rPr lang="de-DE"/>
              <a:t>Website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05320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8BA04-5A44-6996-B246-CE7EF680E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7EEAE6A-FC6F-7621-4159-646EA28C70B0}"/>
              </a:ext>
            </a:extLst>
          </p:cNvPr>
          <p:cNvSpPr/>
          <p:nvPr/>
        </p:nvSpPr>
        <p:spPr>
          <a:xfrm>
            <a:off x="-564873" y="-365125"/>
            <a:ext cx="13321746" cy="1690688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6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DA10D-F37B-B03C-6905-BA39CEA0E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IE" sz="4000">
                <a:solidFill>
                  <a:schemeClr val="bg1"/>
                </a:solidFill>
              </a:rPr>
              <a:t>Inspecting 15 minute intervalls, when during the last 15 years were the most goals scored?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3806D-6B2D-CB7F-C85E-BFAE5E967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58055"/>
          </a:xfrm>
        </p:spPr>
        <p:txBody>
          <a:bodyPr>
            <a:normAutofit/>
          </a:bodyPr>
          <a:lstStyle/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r>
              <a:rPr lang="de-DE"/>
              <a:t>Dropdown menu: Bundesliga or different teams</a:t>
            </a:r>
          </a:p>
          <a:p>
            <a:r>
              <a:rPr lang="de-DE"/>
              <a:t>Radio buttons: Goals/ Percentage</a:t>
            </a:r>
            <a:endParaRPr lang="en-IE"/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EC23CE5D-6C2E-1D64-F14A-F112D1CF26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660" y="1825625"/>
            <a:ext cx="8350679" cy="354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05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D05A4-E8CA-6976-5A0F-C6F55E965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2E53F2D-5A40-7528-4FA0-5A3774CAF3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1712" y="1825624"/>
            <a:ext cx="7028575" cy="3613036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3E90859-F717-D7C1-E069-B41209ED1E75}"/>
              </a:ext>
            </a:extLst>
          </p:cNvPr>
          <p:cNvSpPr/>
          <p:nvPr/>
        </p:nvSpPr>
        <p:spPr>
          <a:xfrm>
            <a:off x="-564873" y="-365125"/>
            <a:ext cx="13321746" cy="1690688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6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A9C7D7-C596-855F-0578-E9890158A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E">
                <a:solidFill>
                  <a:schemeClr val="bg1"/>
                </a:solidFill>
              </a:rPr>
              <a:t>How does high rainfall during a match influence the performance of certain German teams?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A2C79-036A-7928-3119-4016F5A94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Autofit/>
          </a:bodyPr>
          <a:lstStyle/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pPr marL="0" indent="0">
              <a:buNone/>
            </a:pPr>
            <a:endParaRPr lang="de-DE"/>
          </a:p>
          <a:p>
            <a:r>
              <a:rPr lang="de-DE"/>
              <a:t>Slider: Precipitation threshold (mm)</a:t>
            </a:r>
          </a:p>
          <a:p>
            <a:r>
              <a:rPr lang="de-DE"/>
              <a:t>Dropdown: Teams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81289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BF29F-B025-541C-D407-2C9AC715C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F7CAA86-A340-862B-BD6A-BABB88C293B7}"/>
              </a:ext>
            </a:extLst>
          </p:cNvPr>
          <p:cNvSpPr/>
          <p:nvPr/>
        </p:nvSpPr>
        <p:spPr>
          <a:xfrm>
            <a:off x="-564873" y="-365125"/>
            <a:ext cx="13321746" cy="1690688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6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28B57-B44A-245D-5366-5DDB03E7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IE" sz="4000">
                <a:solidFill>
                  <a:schemeClr val="bg1"/>
                </a:solidFill>
              </a:rPr>
              <a:t>How does high precipitation during a match influence the total number of goals scored?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D9E51-FBD4-CAC0-F8A1-4E630BBF0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r>
              <a:rPr lang="de-DE"/>
              <a:t>Radio buttons: Rain/ Precipitation</a:t>
            </a:r>
            <a:endParaRPr lang="en-I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723E7F-9D28-32DF-8823-0177B6660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877" y="1825624"/>
            <a:ext cx="7690245" cy="346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952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BDA06-C2F9-EA98-2120-9EA5BF0D7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3117F23-9DFF-EE68-4807-5D991D35A2A3}"/>
              </a:ext>
            </a:extLst>
          </p:cNvPr>
          <p:cNvSpPr/>
          <p:nvPr/>
        </p:nvSpPr>
        <p:spPr>
          <a:xfrm>
            <a:off x="-564873" y="-365125"/>
            <a:ext cx="13321746" cy="1690688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6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EF6DD1-3E3E-16D8-EB19-0BE392733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IE" sz="4000">
                <a:solidFill>
                  <a:schemeClr val="bg1"/>
                </a:solidFill>
              </a:rPr>
              <a:t>Which teams are the best at staging comebacks after trailing at half time?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F1EC4-56FE-8093-AA34-7C1F82B97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r>
              <a:rPr lang="de-DE"/>
              <a:t>Radio buttons: Comeback wins/ Comeback rate</a:t>
            </a:r>
            <a:endParaRPr lang="en-I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4E84A0-2877-8347-564F-7B6513195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429" y="1825624"/>
            <a:ext cx="8259141" cy="395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547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E7665-4172-DE2B-CCD0-A42E47303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40FF003-DDC2-8DE0-0885-BED285F66651}"/>
              </a:ext>
            </a:extLst>
          </p:cNvPr>
          <p:cNvSpPr/>
          <p:nvPr/>
        </p:nvSpPr>
        <p:spPr>
          <a:xfrm>
            <a:off x="-564873" y="-365125"/>
            <a:ext cx="13321746" cy="1690688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6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3837D6-46E7-946C-1037-62C60C031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IE" sz="4000">
                <a:solidFill>
                  <a:schemeClr val="bg1"/>
                </a:solidFill>
              </a:rPr>
              <a:t>How does the timing of the first conceded lead-giving goal affect the match outcome?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BB34A-87EA-8CA4-8B0F-42A543458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r>
              <a:rPr lang="de-DE"/>
              <a:t>Radio buttons: Win/ draw/ loss</a:t>
            </a:r>
            <a:endParaRPr lang="en-I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C8BAE8-FE14-8B40-8B8C-32988932D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368" y="1825624"/>
            <a:ext cx="9463264" cy="3615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415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3DD11-6C80-F00F-6AA1-3B778843C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FA0755C-B2FA-87FA-B7E2-D3D09FA6FC78}"/>
              </a:ext>
            </a:extLst>
          </p:cNvPr>
          <p:cNvSpPr/>
          <p:nvPr/>
        </p:nvSpPr>
        <p:spPr>
          <a:xfrm>
            <a:off x="-564873" y="-365125"/>
            <a:ext cx="13321746" cy="1690688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6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5BE9E6-90E9-2AE3-3874-33A0E6C8C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IE" sz="4000">
                <a:solidFill>
                  <a:schemeClr val="bg1"/>
                </a:solidFill>
              </a:rPr>
              <a:t>Which teams scored goals at home turf most often?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75835-5A60-BA0A-3167-BB511C4D4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r>
              <a:rPr lang="de-DE"/>
              <a:t>Slider: Season</a:t>
            </a:r>
            <a:endParaRPr lang="en-I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7AE46C-7470-FAE3-276B-D5EA8AA7C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636" y="1825624"/>
            <a:ext cx="9794728" cy="367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175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C58D0-EAB4-9469-01A3-5C6D15653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F25971D-2FFB-9436-5FB4-C35D507C54C8}"/>
              </a:ext>
            </a:extLst>
          </p:cNvPr>
          <p:cNvSpPr/>
          <p:nvPr/>
        </p:nvSpPr>
        <p:spPr>
          <a:xfrm>
            <a:off x="-564873" y="-365125"/>
            <a:ext cx="13321746" cy="1690688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6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8C40EE-06D7-C116-2270-EEAF7D5EC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E">
                <a:solidFill>
                  <a:schemeClr val="bg1"/>
                </a:solidFill>
              </a:rPr>
              <a:t>During the last 15 years, when did each team score goals most often in their opponent`s city?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7055A-7947-2903-E9DB-DC3F16E92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r>
              <a:rPr lang="de-DE"/>
              <a:t>Dropdown: Teams</a:t>
            </a:r>
            <a:endParaRPr lang="en-I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F075C2-1E50-68D5-CA14-3BABA1CB7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629" y="1825624"/>
            <a:ext cx="8242741" cy="385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131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59236-3467-118C-9AFE-AF5E7EE62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682A004-1714-D28C-6C5F-5C97CD4A43BC}"/>
              </a:ext>
            </a:extLst>
          </p:cNvPr>
          <p:cNvSpPr/>
          <p:nvPr/>
        </p:nvSpPr>
        <p:spPr>
          <a:xfrm>
            <a:off x="-564873" y="-365125"/>
            <a:ext cx="13321746" cy="1690688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6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22C113-21AA-9909-16CD-73EEC20D1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IE" sz="4000">
                <a:solidFill>
                  <a:schemeClr val="bg1"/>
                </a:solidFill>
              </a:rPr>
              <a:t>How does the venue capacity influence the win rate of the away team?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09F61-D91D-1E5B-848F-AF84AC2BB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200015"/>
          </a:xfrm>
        </p:spPr>
        <p:txBody>
          <a:bodyPr/>
          <a:lstStyle/>
          <a:p>
            <a:endParaRPr lang="de-DE"/>
          </a:p>
          <a:p>
            <a:endParaRPr lang="en-IE"/>
          </a:p>
          <a:p>
            <a:endParaRPr lang="en-IE"/>
          </a:p>
          <a:p>
            <a:endParaRPr lang="en-IE"/>
          </a:p>
          <a:p>
            <a:endParaRPr lang="en-IE"/>
          </a:p>
          <a:p>
            <a:endParaRPr lang="en-IE"/>
          </a:p>
          <a:p>
            <a:endParaRPr lang="en-IE"/>
          </a:p>
          <a:p>
            <a:endParaRPr lang="en-IE"/>
          </a:p>
          <a:p>
            <a:r>
              <a:rPr lang="en-IE"/>
              <a:t>Dropdown: Teams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8F186E-6E2B-DEA9-7D42-59A044C63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200" y="1825624"/>
            <a:ext cx="8711599" cy="4041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575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A47CF-D90D-0D25-6F70-D05CAE9E8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F9E4A-E831-8CBF-EED2-40A13762F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/>
          <a:lstStyle/>
          <a:p>
            <a:pPr marL="0" indent="0">
              <a:buNone/>
            </a:pPr>
            <a:r>
              <a:rPr lang="en-IE"/>
              <a:t>This project is created as part of the Data Science Project of the winter semester 2025/26 from Cristian-Albrechts-University in Kiel. </a:t>
            </a:r>
          </a:p>
          <a:p>
            <a:pPr marL="0" indent="0">
              <a:buNone/>
            </a:pPr>
            <a:r>
              <a:rPr lang="en-IE"/>
              <a:t>Our group is number 15 and the team members are Hauke Busch, Jakob Erichsen, Alexander Liebler and Robert Ousch.</a:t>
            </a:r>
          </a:p>
        </p:txBody>
      </p:sp>
    </p:spTree>
    <p:extLst>
      <p:ext uri="{BB962C8B-B14F-4D97-AF65-F5344CB8AC3E}">
        <p14:creationId xmlns:p14="http://schemas.microsoft.com/office/powerpoint/2010/main" val="2871866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490</Words>
  <Application>Microsoft Office PowerPoint</Application>
  <PresentationFormat>Widescreen</PresentationFormat>
  <Paragraphs>117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Office Theme</vt:lpstr>
      <vt:lpstr>Rain, timing or home advantage?  What influences goals and victories in the 1. Bundsliga</vt:lpstr>
      <vt:lpstr>Week 1: Topic brainstorming</vt:lpstr>
      <vt:lpstr>Week 2: Answering the research questions</vt:lpstr>
      <vt:lpstr>Week 3: Basic website</vt:lpstr>
      <vt:lpstr>Week 4: Final website and poster</vt:lpstr>
      <vt:lpstr>Data sources</vt:lpstr>
      <vt:lpstr>Website</vt:lpstr>
      <vt:lpstr>Inspecting 15 minute intervalls, when during the last 15 years were the most goals scored?</vt:lpstr>
      <vt:lpstr>How does high rainfall during a match influence the performance of certain German teams?</vt:lpstr>
      <vt:lpstr>How does high precipitation during a match influence the total number of goals scored?</vt:lpstr>
      <vt:lpstr>Which teams are the best at staging comebacks after trailing at half time?</vt:lpstr>
      <vt:lpstr>How does the timing of the first conceded lead-giving goal affect the match outcome?</vt:lpstr>
      <vt:lpstr>Which teams scored goals at home turf most often?</vt:lpstr>
      <vt:lpstr>During the last 15 years, when did each team score goals most often in their opponent`s city?</vt:lpstr>
      <vt:lpstr>How does the venue capacity influence the win rate of the away team?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</dc:creator>
  <cp:lastModifiedBy>Alexander</cp:lastModifiedBy>
  <cp:revision>39</cp:revision>
  <dcterms:created xsi:type="dcterms:W3CDTF">2026-03-19T15:06:48Z</dcterms:created>
  <dcterms:modified xsi:type="dcterms:W3CDTF">2026-03-19T15:50:42Z</dcterms:modified>
</cp:coreProperties>
</file>